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5" r:id="rId2"/>
    <p:sldId id="259" r:id="rId3"/>
    <p:sldId id="258" r:id="rId4"/>
    <p:sldId id="273" r:id="rId5"/>
    <p:sldId id="260" r:id="rId6"/>
    <p:sldId id="261" r:id="rId7"/>
    <p:sldId id="267" r:id="rId8"/>
    <p:sldId id="268" r:id="rId9"/>
    <p:sldId id="269" r:id="rId10"/>
    <p:sldId id="274" r:id="rId11"/>
    <p:sldId id="262" r:id="rId12"/>
    <p:sldId id="265" r:id="rId13"/>
    <p:sldId id="266" r:id="rId14"/>
    <p:sldId id="264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CE9E"/>
    <a:srgbClr val="2FCD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BO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BO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BO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B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microsoft.com/office/2007/relationships/hdphoto" Target="../media/hdphoto1.wdp"/><Relationship Id="rId7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223E7-C6B1-4184-9B68-BD74EAD6F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0522" y="2674123"/>
            <a:ext cx="10941477" cy="1484669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s-419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“PEQUEÑOS GENIOS: DISEÑO E IMPLEMENTACIÓN DE UNA PÁGINA WEB INTERACTIVA PARA FACILITAR LA COMPRENSIÓN DE LA ELECTRÓNICA BÁSICA EN NIÑOS DE PRIMARIA DEL COLEGIO LA PRIMERA”</a:t>
            </a:r>
            <a:br>
              <a:rPr lang="es-419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419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F7FF40E-B4A9-4B94-AA12-909E8CA5863B}"/>
              </a:ext>
            </a:extLst>
          </p:cNvPr>
          <p:cNvSpPr txBox="1"/>
          <p:nvPr/>
        </p:nvSpPr>
        <p:spPr>
          <a:xfrm>
            <a:off x="1492941" y="6003266"/>
            <a:ext cx="361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TUTOR</a:t>
            </a:r>
            <a:r>
              <a:rPr lang="es-ES" dirty="0"/>
              <a:t>: SILVIA NINA MARQUEZ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F7FF40E-B4A9-4B94-AA12-909E8CA5863B}"/>
              </a:ext>
            </a:extLst>
          </p:cNvPr>
          <p:cNvSpPr txBox="1"/>
          <p:nvPr/>
        </p:nvSpPr>
        <p:spPr>
          <a:xfrm>
            <a:off x="3533141" y="1690970"/>
            <a:ext cx="4964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PROYECTO DE INNOVACIÓN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F7FF40E-B4A9-4B94-AA12-909E8CA5863B}"/>
              </a:ext>
            </a:extLst>
          </p:cNvPr>
          <p:cNvSpPr txBox="1"/>
          <p:nvPr/>
        </p:nvSpPr>
        <p:spPr>
          <a:xfrm>
            <a:off x="1250522" y="3934691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POSTULANTES</a:t>
            </a:r>
            <a:r>
              <a:rPr lang="es-ES" dirty="0"/>
              <a:t>: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F7FF40E-B4A9-4B94-AA12-909E8CA5863B}"/>
              </a:ext>
            </a:extLst>
          </p:cNvPr>
          <p:cNvSpPr txBox="1"/>
          <p:nvPr/>
        </p:nvSpPr>
        <p:spPr>
          <a:xfrm>
            <a:off x="1300291" y="4518597"/>
            <a:ext cx="2860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CHAMBI CONDORI</a:t>
            </a:r>
          </a:p>
          <a:p>
            <a:pPr algn="r"/>
            <a:r>
              <a:rPr lang="es-E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DAYAN MICHELLE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F7FF40E-B4A9-4B94-AA12-909E8CA5863B}"/>
              </a:ext>
            </a:extLst>
          </p:cNvPr>
          <p:cNvSpPr txBox="1"/>
          <p:nvPr/>
        </p:nvSpPr>
        <p:spPr>
          <a:xfrm>
            <a:off x="6835837" y="4570546"/>
            <a:ext cx="2935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BALTAZAR PANTIGOZO</a:t>
            </a:r>
          </a:p>
          <a:p>
            <a:pPr algn="r"/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CAROLAY CANDELARIA</a:t>
            </a:r>
          </a:p>
        </p:txBody>
      </p:sp>
      <p:grpSp>
        <p:nvGrpSpPr>
          <p:cNvPr id="18" name="Grupo 17"/>
          <p:cNvGrpSpPr/>
          <p:nvPr/>
        </p:nvGrpSpPr>
        <p:grpSpPr>
          <a:xfrm>
            <a:off x="0" y="10943"/>
            <a:ext cx="12192000" cy="1472316"/>
            <a:chOff x="0" y="10943"/>
            <a:chExt cx="12192000" cy="1472316"/>
          </a:xfrm>
        </p:grpSpPr>
        <p:sp>
          <p:nvSpPr>
            <p:cNvPr id="17" name="Rectángulo 16"/>
            <p:cNvSpPr/>
            <p:nvPr/>
          </p:nvSpPr>
          <p:spPr>
            <a:xfrm>
              <a:off x="0" y="10943"/>
              <a:ext cx="12192000" cy="1472316"/>
            </a:xfrm>
            <a:prstGeom prst="rect">
              <a:avLst/>
            </a:prstGeom>
            <a:solidFill>
              <a:schemeClr val="tx1">
                <a:alpha val="74000"/>
              </a:scheme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/>
            </a:p>
          </p:txBody>
        </p:sp>
        <p:pic>
          <p:nvPicPr>
            <p:cNvPr id="1026" name="Picture 2" descr="Unidad Educativa La Primera PP.FF. | Facebook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937" b="91667" l="10000" r="92000">
                          <a14:foregroundMark x1="42500" y1="41667" x2="51500" y2="73810"/>
                          <a14:foregroundMark x1="53000" y1="7937" x2="53000" y2="7937"/>
                          <a14:foregroundMark x1="66000" y1="91667" x2="66000" y2="91667"/>
                          <a14:foregroundMark x1="71500" y1="69841" x2="72500" y2="69841"/>
                          <a14:foregroundMark x1="47500" y1="87302" x2="47500" y2="87302"/>
                          <a14:foregroundMark x1="92000" y1="21032" x2="92000" y2="21032"/>
                          <a14:foregroundMark x1="46500" y1="72619" x2="46500" y2="7261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0699" y="24936"/>
              <a:ext cx="1102242" cy="1388826"/>
            </a:xfrm>
            <a:prstGeom prst="rect">
              <a:avLst/>
            </a:prstGeom>
            <a:noFill/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Imagen 3"/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8000" b="90000" l="5167" r="94833">
                          <a14:foregroundMark x1="49333" y1="22833" x2="49333" y2="22833"/>
                          <a14:foregroundMark x1="51833" y1="19667" x2="53333" y2="48333"/>
                          <a14:foregroundMark x1="53333" y1="48333" x2="53333" y2="48333"/>
                          <a14:foregroundMark x1="17833" y1="15833" x2="68833" y2="69167"/>
                          <a14:foregroundMark x1="72333" y1="22833" x2="73500" y2="55000"/>
                          <a14:foregroundMark x1="71000" y1="21500" x2="71000" y2="21500"/>
                          <a14:foregroundMark x1="68500" y1="19167" x2="75000" y2="23833"/>
                          <a14:foregroundMark x1="30333" y1="19167" x2="37500" y2="27000"/>
                          <a14:foregroundMark x1="29167" y1="35500" x2="32667" y2="52667"/>
                          <a14:foregroundMark x1="22667" y1="63000" x2="63167" y2="62500"/>
                          <a14:foregroundMark x1="78000" y1="62500" x2="61000" y2="61167"/>
                          <a14:foregroundMark x1="54833" y1="18000" x2="57000" y2="29833"/>
                          <a14:foregroundMark x1="92000" y1="36000" x2="92000" y2="36000"/>
                          <a14:foregroundMark x1="72500" y1="16833" x2="69667" y2="48167"/>
                          <a14:foregroundMark x1="73333" y1="19000" x2="76833" y2="421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52" t="7800" r="4148" b="9465"/>
            <a:stretch/>
          </p:blipFill>
          <p:spPr>
            <a:xfrm>
              <a:off x="10414462" y="168700"/>
              <a:ext cx="1263636" cy="1133909"/>
            </a:xfrm>
            <a:prstGeom prst="rect">
              <a:avLst/>
            </a:prstGeom>
            <a:noFill/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/>
            </a:sp3d>
          </p:spPr>
        </p:pic>
        <p:pic>
          <p:nvPicPr>
            <p:cNvPr id="13" name="Imagen 1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9702" y="61527"/>
              <a:ext cx="8348750" cy="1013304"/>
            </a:xfrm>
            <a:prstGeom prst="rect">
              <a:avLst/>
            </a:prstGeom>
          </p:spPr>
        </p:pic>
        <p:sp>
          <p:nvSpPr>
            <p:cNvPr id="16" name="CuadroTexto 15"/>
            <p:cNvSpPr txBox="1"/>
            <p:nvPr/>
          </p:nvSpPr>
          <p:spPr>
            <a:xfrm>
              <a:off x="4160516" y="776221"/>
              <a:ext cx="34868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BO" sz="2000" b="1" dirty="0">
                  <a:solidFill>
                    <a:schemeClr val="bg1"/>
                  </a:solidFill>
                  <a:latin typeface="Bradley Hand ITC" panose="03070402050302030203" pitchFamily="66" charset="0"/>
                </a:rPr>
                <a:t>Fundado el 30 de julio de 1997</a:t>
              </a:r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3329347" y="1017277"/>
              <a:ext cx="51684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BO" sz="2000" dirty="0">
                  <a:solidFill>
                    <a:schemeClr val="bg1"/>
                  </a:solidFill>
                  <a:latin typeface="Berlin Sans FB" panose="020E0602020502020306" pitchFamily="34" charset="0"/>
                </a:rPr>
                <a:t>NIVELES: INICIAL – PRIMARIA - SECUNDARIA</a:t>
              </a:r>
            </a:p>
          </p:txBody>
        </p:sp>
      </p:grpSp>
      <p:sp>
        <p:nvSpPr>
          <p:cNvPr id="14" name="Elipse 13"/>
          <p:cNvSpPr/>
          <p:nvPr/>
        </p:nvSpPr>
        <p:spPr>
          <a:xfrm>
            <a:off x="9911069" y="3772028"/>
            <a:ext cx="1767029" cy="2024743"/>
          </a:xfrm>
          <a:prstGeom prst="ellipse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Elipse 14"/>
          <p:cNvSpPr/>
          <p:nvPr/>
        </p:nvSpPr>
        <p:spPr>
          <a:xfrm>
            <a:off x="4278187" y="4048711"/>
            <a:ext cx="1614861" cy="1748059"/>
          </a:xfrm>
          <a:prstGeom prst="ellipse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857737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59F9976-EC7B-44BE-A3B4-E5464D0EB149}"/>
              </a:ext>
            </a:extLst>
          </p:cNvPr>
          <p:cNvSpPr txBox="1"/>
          <p:nvPr/>
        </p:nvSpPr>
        <p:spPr>
          <a:xfrm>
            <a:off x="1748081" y="1338470"/>
            <a:ext cx="7527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INTRODUCCIÓN</a:t>
            </a:r>
          </a:p>
        </p:txBody>
      </p:sp>
    </p:spTree>
    <p:extLst>
      <p:ext uri="{BB962C8B-B14F-4D97-AF65-F5344CB8AC3E}">
        <p14:creationId xmlns:p14="http://schemas.microsoft.com/office/powerpoint/2010/main" val="4044810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477079"/>
            <a:ext cx="91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PLANTEAMIENTO DEL PROBLEMA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1391479"/>
            <a:ext cx="91174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dirty="0"/>
              <a:t>Diagnóstico: encuesta a 67 estudiantes (72,4% respondió No)</a:t>
            </a:r>
          </a:p>
        </p:txBody>
      </p:sp>
    </p:spTree>
    <p:extLst>
      <p:ext uri="{BB962C8B-B14F-4D97-AF65-F5344CB8AC3E}">
        <p14:creationId xmlns:p14="http://schemas.microsoft.com/office/powerpoint/2010/main" val="3218960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477079"/>
            <a:ext cx="91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PLANTEAMIENTO DEL PROBLEMA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1391479"/>
            <a:ext cx="91174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dirty="0"/>
              <a:t>Identificación y formulación del problema</a:t>
            </a:r>
          </a:p>
        </p:txBody>
      </p:sp>
    </p:spTree>
    <p:extLst>
      <p:ext uri="{BB962C8B-B14F-4D97-AF65-F5344CB8AC3E}">
        <p14:creationId xmlns:p14="http://schemas.microsoft.com/office/powerpoint/2010/main" val="774640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477079"/>
            <a:ext cx="91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OBJETIVO GENERAL</a:t>
            </a:r>
          </a:p>
        </p:txBody>
      </p:sp>
    </p:spTree>
    <p:extLst>
      <p:ext uri="{BB962C8B-B14F-4D97-AF65-F5344CB8AC3E}">
        <p14:creationId xmlns:p14="http://schemas.microsoft.com/office/powerpoint/2010/main" val="717554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477079"/>
            <a:ext cx="91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OBJETIVO ESPECIFICO 1</a:t>
            </a:r>
          </a:p>
        </p:txBody>
      </p:sp>
    </p:spTree>
    <p:extLst>
      <p:ext uri="{BB962C8B-B14F-4D97-AF65-F5344CB8AC3E}">
        <p14:creationId xmlns:p14="http://schemas.microsoft.com/office/powerpoint/2010/main" val="149404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477079"/>
            <a:ext cx="91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OBJETIVO ESPECIFICO 2</a:t>
            </a:r>
          </a:p>
        </p:txBody>
      </p:sp>
    </p:spTree>
    <p:extLst>
      <p:ext uri="{BB962C8B-B14F-4D97-AF65-F5344CB8AC3E}">
        <p14:creationId xmlns:p14="http://schemas.microsoft.com/office/powerpoint/2010/main" val="213825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477079"/>
            <a:ext cx="91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OBJETIVO ESPECIFICO 3</a:t>
            </a:r>
          </a:p>
        </p:txBody>
      </p:sp>
    </p:spTree>
    <p:extLst>
      <p:ext uri="{BB962C8B-B14F-4D97-AF65-F5344CB8AC3E}">
        <p14:creationId xmlns:p14="http://schemas.microsoft.com/office/powerpoint/2010/main" val="1654082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477079"/>
            <a:ext cx="91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METODOLOGIA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1391479"/>
            <a:ext cx="91174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dirty="0"/>
              <a:t>Proceso de 5 fases</a:t>
            </a:r>
            <a:r>
              <a:rPr lang="es-ES" sz="2500" dirty="0" err="1"/>
              <a:t> (Modelo ADDIE)</a:t>
            </a:r>
            <a:endParaRPr lang="es-ES" sz="2500" dirty="0"/>
          </a:p>
        </p:txBody>
      </p:sp>
    </p:spTree>
    <p:extLst>
      <p:ext uri="{BB962C8B-B14F-4D97-AF65-F5344CB8AC3E}">
        <p14:creationId xmlns:p14="http://schemas.microsoft.com/office/powerpoint/2010/main" val="3576743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477079"/>
            <a:ext cx="91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COSTOS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1391479"/>
            <a:ext cx="91174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dirty="0"/>
              <a:t>Resumen general de costos (Bs 860,00)</a:t>
            </a:r>
          </a:p>
        </p:txBody>
      </p:sp>
    </p:spTree>
    <p:extLst>
      <p:ext uri="{BB962C8B-B14F-4D97-AF65-F5344CB8AC3E}">
        <p14:creationId xmlns:p14="http://schemas.microsoft.com/office/powerpoint/2010/main" val="322422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477079"/>
            <a:ext cx="91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DESARROLLO DE LA INNOVACION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1391479"/>
            <a:ext cx="9117495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dirty="0"/>
              <a:t>Diagrama de Gantt y evidencia del desarrollo</a:t>
            </a:r>
          </a:p>
          <a:p>
            <a:r>
              <a:rPr lang="es-ES" sz="2500" dirty="0"/>
              <a:t>Cumplimiento de objetivos específicos</a:t>
            </a:r>
          </a:p>
        </p:txBody>
      </p:sp>
    </p:spTree>
    <p:extLst>
      <p:ext uri="{BB962C8B-B14F-4D97-AF65-F5344CB8AC3E}">
        <p14:creationId xmlns:p14="http://schemas.microsoft.com/office/powerpoint/2010/main" val="2193184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6900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3356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46488" y="504788"/>
            <a:ext cx="9117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ESTRATEGIAS DE MEJORA Y  PROYECCIÓN</a:t>
            </a:r>
          </a:p>
        </p:txBody>
      </p:sp>
    </p:spTree>
    <p:extLst>
      <p:ext uri="{BB962C8B-B14F-4D97-AF65-F5344CB8AC3E}">
        <p14:creationId xmlns:p14="http://schemas.microsoft.com/office/powerpoint/2010/main" val="2915341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477079"/>
            <a:ext cx="91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RESULTADOS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1391479"/>
            <a:ext cx="91174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dirty="0"/>
              <a:t>Objetivos general y específicos cumplidos en su totalidad</a:t>
            </a:r>
          </a:p>
        </p:txBody>
      </p:sp>
    </p:spTree>
    <p:extLst>
      <p:ext uri="{BB962C8B-B14F-4D97-AF65-F5344CB8AC3E}">
        <p14:creationId xmlns:p14="http://schemas.microsoft.com/office/powerpoint/2010/main" val="2876714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477079"/>
            <a:ext cx="91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CONCLUSIÓN Y  RECOMENDACIONES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537252" y="1391479"/>
            <a:ext cx="91174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dirty="0"/>
              <a:t>Relación objetivos – resultados </a:t>
            </a:r>
          </a:p>
          <a:p>
            <a:r>
              <a:rPr lang="es-ES" sz="2500" dirty="0"/>
              <a:t>Mejora y sostenibilidad a largo plazo</a:t>
            </a:r>
          </a:p>
        </p:txBody>
      </p:sp>
    </p:spTree>
    <p:extLst>
      <p:ext uri="{BB962C8B-B14F-4D97-AF65-F5344CB8AC3E}">
        <p14:creationId xmlns:p14="http://schemas.microsoft.com/office/powerpoint/2010/main" val="1984743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404DE33-70ED-4D29-A2AE-E7286992A0B4}"/>
              </a:ext>
            </a:extLst>
          </p:cNvPr>
          <p:cNvSpPr txBox="1"/>
          <p:nvPr/>
        </p:nvSpPr>
        <p:spPr>
          <a:xfrm>
            <a:off x="1203619" y="3442700"/>
            <a:ext cx="91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DESPEDIDA</a:t>
            </a:r>
          </a:p>
        </p:txBody>
      </p:sp>
    </p:spTree>
    <p:extLst>
      <p:ext uri="{BB962C8B-B14F-4D97-AF65-F5344CB8AC3E}">
        <p14:creationId xmlns:p14="http://schemas.microsoft.com/office/powerpoint/2010/main" val="4652722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Personalizado 1">
      <a:dk1>
        <a:sysClr val="windowText" lastClr="000000"/>
      </a:dk1>
      <a:lt1>
        <a:sysClr val="window" lastClr="FFFFFF"/>
      </a:lt1>
      <a:dk2>
        <a:srgbClr val="00B050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858</TotalTime>
  <Words>159</Words>
  <Application>Microsoft Office PowerPoint</Application>
  <PresentationFormat>Panorámica</PresentationFormat>
  <Paragraphs>33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Arial</vt:lpstr>
      <vt:lpstr>Berlin Sans FB</vt:lpstr>
      <vt:lpstr>Bradley Hand ITC</vt:lpstr>
      <vt:lpstr>MS Shell Dlg 2</vt:lpstr>
      <vt:lpstr>Wingdings</vt:lpstr>
      <vt:lpstr>Wingdings 3</vt:lpstr>
      <vt:lpstr>Madison</vt:lpstr>
      <vt:lpstr>“PEQUEÑOS GENIOS: DISEÑO E IMPLEMENTACIÓN DE UNA PÁGINA WEB INTERACTIVA PARA FACILITAR LA COMPRENSIÓN DE LA ELECTRÓNICA BÁSICA EN NIÑOS DE PRIMARIA DEL COLEGIO LA PRIMERA”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DE PROYECTO</dc:title>
  <dc:creator>Administrator</dc:creator>
  <cp:lastModifiedBy>Gomez Tovar Alejandro Abel</cp:lastModifiedBy>
  <cp:revision>22</cp:revision>
  <dcterms:created xsi:type="dcterms:W3CDTF">2021-10-27T15:28:11Z</dcterms:created>
  <dcterms:modified xsi:type="dcterms:W3CDTF">2026-10-02T22:35:20Z</dcterms:modified>
</cp:coreProperties>
</file>