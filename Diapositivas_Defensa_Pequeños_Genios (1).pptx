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8" r:id="rId4"/>
    <p:sldId id="273" r:id="rId5"/>
    <p:sldId id="260" r:id="rId6"/>
    <p:sldId id="261" r:id="rId7"/>
    <p:sldId id="267" r:id="rId8"/>
    <p:sldId id="268" r:id="rId9"/>
    <p:sldId id="269" r:id="rId10"/>
    <p:sldId id="274" r:id="rId11"/>
    <p:sldId id="262" r:id="rId12"/>
    <p:sldId id="265" r:id="rId13"/>
    <p:sldId id="266" r:id="rId14"/>
    <p:sldId id="264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CE9E"/>
    <a:srgbClr val="2FCD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jpg"/><Relationship Id="rId7" Type="http://schemas.microsoft.com/office/2007/relationships/hdphoto" Target="../media/hdphoto2.wdp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223E7-C6B1-4184-9B68-BD74EAD6F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2079" y="2450022"/>
            <a:ext cx="5518066" cy="1484669"/>
          </a:xfrm>
        </p:spPr>
        <p:txBody>
          <a:bodyPr/>
          <a:lstStyle/>
          <a:p>
            <a:pPr algn="ctr">
              <a:lnSpc>
                <a:spcPts val="5000"/>
              </a:lnSpc>
            </a:pPr>
            <a:r>
              <a:rPr lang="es-ES" sz="3600" b="1"/>
              <a:t>PEQUEÑOS GENIOS</a:t>
            </a:r>
            <a:br>
              <a:rPr lang="es-ES" sz="2400"/>
            </a:br>
            <a:r>
              <a:rPr lang="es-ES" sz="2400"/>
              <a:t>electrónica básica jugando</a:t>
            </a:r>
            <a:endParaRPr lang="en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1250522" y="5788692"/>
            <a:ext cx="1039708" cy="369332"/>
          </a:xfrm>
          <a:prstGeom prst="rect">
            <a:avLst/>
          </a:prstGeom>
          <a:noFill/>
        </p:spPr>
        <p:txBody>
          <a:bodyPr wrap="none" rtlCol="0"/>
          <a:lstStyle/>
          <a:p>
            <a:r>
              <a:rPr lang="es-ES" b="1" dirty="0" smtClean="0"/>
              <a:t>TUTOR</a:t>
            </a:r>
            <a:r>
              <a:rPr lang="es-ES" dirty="0" smtClean="0"/>
              <a:t>: SILVIA NINA MARQUEZ</a:t>
            </a:r>
            <a:endParaRPr lang="es-ES" dirty="0"/>
          </a:p>
        </p:txBody>
      </p:sp>
      <p:sp>
        <p:nvSpPr>
          <p:cNvPr id="3" name="Elipse 2"/>
          <p:cNvSpPr/>
          <p:nvPr/>
        </p:nvSpPr>
        <p:spPr>
          <a:xfrm>
            <a:off x="4110747" y="3977984"/>
            <a:ext cx="1687492" cy="1910019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3533141" y="1690970"/>
            <a:ext cx="496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DE INNOVACIÓN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1250522" y="393469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POSTULANTES</a:t>
            </a:r>
            <a:r>
              <a:rPr lang="es-ES" dirty="0" smtClean="0"/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1250522" y="4570546"/>
            <a:ext cx="2860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CHAMBI CONDORI</a:t>
            </a:r>
          </a:p>
          <a:p>
            <a:pPr algn="r"/>
            <a: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DAYAN MICHELLE</a:t>
            </a:r>
          </a:p>
        </p:txBody>
      </p:sp>
      <p:sp>
        <p:nvSpPr>
          <p:cNvPr id="11" name="Elipse 10"/>
          <p:cNvSpPr/>
          <p:nvPr/>
        </p:nvSpPr>
        <p:spPr>
          <a:xfrm>
            <a:off x="9570716" y="3977984"/>
            <a:ext cx="1687492" cy="1910019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6835837" y="4570546"/>
            <a:ext cx="2734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BALTAZAR PANTIGOZO</a:t>
            </a:r>
          </a:p>
          <a:p>
            <a:pPr algn="r"/>
            <a: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CAROLAY CANDELARIA</a:t>
            </a:r>
          </a:p>
        </p:txBody>
      </p:sp>
      <p:grpSp>
        <p:nvGrpSpPr>
          <p:cNvPr id="18" name="Grupo 17"/>
          <p:cNvGrpSpPr/>
          <p:nvPr/>
        </p:nvGrpSpPr>
        <p:grpSpPr>
          <a:xfrm>
            <a:off x="0" y="10943"/>
            <a:ext cx="12192000" cy="1472316"/>
            <a:chOff x="0" y="10943"/>
            <a:chExt cx="12192000" cy="1472316"/>
          </a:xfrm>
        </p:grpSpPr>
        <p:sp>
          <p:nvSpPr>
            <p:cNvPr id="17" name="Rectángulo 16"/>
            <p:cNvSpPr/>
            <p:nvPr/>
          </p:nvSpPr>
          <p:spPr>
            <a:xfrm>
              <a:off x="0" y="10943"/>
              <a:ext cx="12192000" cy="1472316"/>
            </a:xfrm>
            <a:prstGeom prst="rect">
              <a:avLst/>
            </a:prstGeom>
            <a:solidFill>
              <a:schemeClr val="tx1">
                <a:alpha val="74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pic>
          <p:nvPicPr>
            <p:cNvPr id="1026" name="Picture 2" descr="Unidad Educativa La Primera PP.FF. | Facebook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937" b="91667" l="10000" r="92000">
                          <a14:foregroundMark x1="42500" y1="41667" x2="51500" y2="73810"/>
                          <a14:foregroundMark x1="53000" y1="7937" x2="53000" y2="7937"/>
                          <a14:foregroundMark x1="66000" y1="91667" x2="66000" y2="91667"/>
                          <a14:foregroundMark x1="71500" y1="69841" x2="72500" y2="69841"/>
                          <a14:foregroundMark x1="47500" y1="87302" x2="47500" y2="87302"/>
                          <a14:foregroundMark x1="92000" y1="21032" x2="92000" y2="21032"/>
                          <a14:foregroundMark x1="46500" y1="72619" x2="46500" y2="726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699" y="24936"/>
              <a:ext cx="1102242" cy="1388826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Imagen 3"/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8000" b="90000" l="5167" r="94833">
                          <a14:foregroundMark x1="49333" y1="22833" x2="49333" y2="22833"/>
                          <a14:foregroundMark x1="51833" y1="19667" x2="53333" y2="48333"/>
                          <a14:foregroundMark x1="53333" y1="48333" x2="53333" y2="48333"/>
                          <a14:foregroundMark x1="17833" y1="15833" x2="68833" y2="69167"/>
                          <a14:foregroundMark x1="72333" y1="22833" x2="73500" y2="55000"/>
                          <a14:foregroundMark x1="71000" y1="21500" x2="71000" y2="21500"/>
                          <a14:foregroundMark x1="68500" y1="19167" x2="75000" y2="23833"/>
                          <a14:foregroundMark x1="30333" y1="19167" x2="37500" y2="27000"/>
                          <a14:foregroundMark x1="29167" y1="35500" x2="32667" y2="52667"/>
                          <a14:foregroundMark x1="22667" y1="63000" x2="63167" y2="62500"/>
                          <a14:foregroundMark x1="78000" y1="62500" x2="61000" y2="61167"/>
                          <a14:foregroundMark x1="54833" y1="18000" x2="57000" y2="29833"/>
                          <a14:foregroundMark x1="92000" y1="36000" x2="92000" y2="36000"/>
                          <a14:foregroundMark x1="72500" y1="16833" x2="69667" y2="48167"/>
                          <a14:foregroundMark x1="73333" y1="19000" x2="76833" y2="421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2" t="7800" r="4148" b="9465"/>
            <a:stretch/>
          </p:blipFill>
          <p:spPr>
            <a:xfrm>
              <a:off x="10414462" y="168700"/>
              <a:ext cx="1263636" cy="1133909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/>
            </a:sp3d>
          </p:spPr>
        </p:pic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9702" y="61527"/>
              <a:ext cx="8348750" cy="1013304"/>
            </a:xfrm>
            <a:prstGeom prst="rect">
              <a:avLst/>
            </a:prstGeom>
          </p:spPr>
        </p:pic>
        <p:sp>
          <p:nvSpPr>
            <p:cNvPr id="16" name="CuadroTexto 15"/>
            <p:cNvSpPr txBox="1"/>
            <p:nvPr/>
          </p:nvSpPr>
          <p:spPr>
            <a:xfrm>
              <a:off x="4160516" y="776221"/>
              <a:ext cx="34868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BO" sz="2000" b="1" dirty="0" smtClean="0">
                  <a:solidFill>
                    <a:schemeClr val="bg1"/>
                  </a:solidFill>
                  <a:latin typeface="Bradley Hand ITC" panose="03070402050302030203" pitchFamily="66" charset="0"/>
                </a:rPr>
                <a:t>Fundado el 30 de julio de 1997</a:t>
              </a:r>
              <a:endParaRPr lang="es-BO" sz="2000" b="1" dirty="0">
                <a:solidFill>
                  <a:schemeClr val="bg1"/>
                </a:solidFill>
                <a:latin typeface="Bradley Hand ITC" panose="03070402050302030203" pitchFamily="66" charset="0"/>
              </a:endParaRPr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329347" y="1017277"/>
              <a:ext cx="51684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BO" sz="2000" dirty="0" smtClean="0">
                  <a:solidFill>
                    <a:schemeClr val="bg1"/>
                  </a:solidFill>
                  <a:latin typeface="Berlin Sans FB" panose="020E0602020502020306" pitchFamily="34" charset="0"/>
                </a:rPr>
                <a:t>NIVELES: INICIAL – PRIMARIA - SECUNDARIA</a:t>
              </a:r>
              <a:endParaRPr lang="es-BO" sz="2000" dirty="0">
                <a:solidFill>
                  <a:schemeClr val="bg1"/>
                </a:solidFill>
                <a:latin typeface="Berlin Sans FB" panose="020E06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238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59F9976-EC7B-44BE-A3B4-E5464D0EB149}"/>
              </a:ext>
            </a:extLst>
          </p:cNvPr>
          <p:cNvSpPr txBox="1"/>
          <p:nvPr/>
        </p:nvSpPr>
        <p:spPr>
          <a:xfrm>
            <a:off x="1748081" y="1338470"/>
            <a:ext cx="752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INTRODUCCIÓN</a:t>
            </a:r>
            <a:endParaRPr lang="es-ES" sz="3600" b="1" dirty="0"/>
          </a:p>
        </p:txBody>
      </p:sp>
      <p:sp>
        <p:nvSpPr>
          <p:cNvPr id="6" name="BodyContent"/>
          <p:cNvSpPr txBox="1"/>
          <p:nvPr/>
        </p:nvSpPr>
        <p:spPr>
          <a:xfrm>
            <a:off x="548640" y="219456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La tecnología forma parte de la vida diaria de los niños. La educación debe incorporar herramientas digitales que desarrollen conocimientos científicos de forma dinámica.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Problema: la electrónica básica se enseña de manera tradicional y teórica. Los estudiantes de primaria del colegio La Primera tienen dificultades para comprender polaridad, circuitos y componentes.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Propuesta: una página web educativa con juegos interactivos (memorama, polaridad, laboratorio de circuitos) adaptada a la edad de primaria.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Impacto: despertar el interés por la tecnología, mejorar la comprensión de conceptos básicos y fortalecer habilidades tecnológicas desde temprana edad.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404481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PLANTEAMIENTO DEL 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Diagnóstico: encuesta a 67 estudiantes</a:t>
            </a:r>
            <a:r>
              <a:rPr lang="es-ES" sz="2500" dirty="0" err="1" smtClean="0"/>
              <a:t/>
            </a:r>
            <a:r>
              <a:rPr lang="es-ES" sz="2500" dirty="0" smtClean="0"/>
              <a:t xml:space="preserve"> (72,4% respondió No)</a:t>
            </a:r>
            <a:endParaRPr lang="es-ES" sz="2500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03120"/>
            <a:ext cx="10515600" cy="2743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>
              <a:spcBef>
                <a:spcPts val="80"/>
              </a:spcBef>
            </a:pPr>
            <a:r>
              <a:rPr lang="es-ES" sz="1600" dirty="0">
                <a:solidFill>
                  <a:srgbClr val="FFFFFF"/>
                </a:solidFill>
              </a:rPr>
              <a:t>Encuesta aplicada el 15 de mayo de 2026 a 67 estudiantes de 6°A y 6°B.</a:t>
            </a:r>
            <a:endParaRPr lang="es-ES" sz="1600"/>
          </a:p>
          <a:p>
            <a:pPr algn="l">
              <a:spcBef>
                <a:spcPts val="80"/>
              </a:spcBef>
            </a:pPr>
            <a:r>
              <a:rPr lang="es-ES" sz="1600" b="1" dirty="0">
                <a:solidFill>
                  <a:srgbClr val="FFFFFF"/>
                </a:solidFill>
              </a:rPr>
              <a:t>Promedio de respuestas «No»: 72,4 %  ·  «Sí»: 16,9 %  ·  «Tal vez»: 10,7 %.</a:t>
            </a:r>
            <a:endParaRPr lang="es-ES" sz="16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Mayores brechas: protoboard (1,5 % Sí), resistencia (4,5 %), medición de voltaje (4,5 %). Solo el 20,9 % había armado un circuito sencillo.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Observación directa: dificultades para identificar componentes y comprender circuitos serie/paralelo.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321896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PLANTEAMIENTO DEL 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Identificación y formulación del problema</a:t>
            </a:r>
            <a:endParaRPr lang="es-ES" sz="2500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03120"/>
            <a:ext cx="10515600" cy="2743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>
              <a:spcBef>
                <a:spcPts val="80"/>
              </a:spcBef>
            </a:pPr>
            <a:r>
              <a:rPr lang="es-ES" sz="1600" b="1" dirty="0">
                <a:solidFill>
                  <a:srgbClr val="FFFFFF"/>
                </a:solidFill>
              </a:rPr>
              <a:t>Formulación del problema:</a:t>
            </a:r>
            <a:endParaRPr lang="es-ES" sz="1600"/>
          </a:p>
          <a:p>
            <a:pPr algn="l">
              <a:spcBef>
                <a:spcPts val="80"/>
              </a:spcBef>
            </a:pPr>
            <a:r>
              <a:rPr lang="es-ES" sz="1700" dirty="0">
                <a:solidFill>
                  <a:srgbClr val="FFFFFF"/>
                </a:solidFill>
              </a:rPr>
              <a:t>¿De qué manera una página web con juegos interactivos puede facilitar la comprensión de la electrónica básica en niños de primaria del colegio La Primera?</a:t>
            </a:r>
            <a:endParaRPr lang="es-ES" sz="17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Causas: enseñanza solo teórica · poca práctica con circuitos · falta de recursos digitales · bajo interés por la electrónica.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77464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GENERAL</a:t>
            </a:r>
          </a:p>
        </p:txBody>
      </p:sp>
      <p:sp>
        <p:nvSpPr>
          <p:cNvPr id="5" name="BodyContent"/>
          <p:cNvSpPr txBox="1"/>
          <p:nvPr/>
        </p:nvSpPr>
        <p:spPr>
          <a:xfrm>
            <a:off x="548640" y="228600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2000" b="1" dirty="0">
                <a:solidFill>
                  <a:srgbClr val="FFFFFF"/>
                </a:solidFill>
              </a:rPr>
              <a:t>Desarrollar una página web con juegos interactivos que facilite la comprensión de la electrónica básica en niños de primaria del colegio La Primera.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71755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</a:t>
            </a:r>
            <a:r>
              <a:rPr lang="es-ES" sz="3600" b="1" dirty="0" smtClean="0"/>
              <a:t>ESPECIFICO 1</a:t>
            </a:r>
            <a:endParaRPr lang="es-ES" sz="3600" b="1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0312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1800" dirty="0">
                <a:solidFill>
                  <a:srgbClr val="FFFFFF"/>
                </a:solidFill>
              </a:rPr>
              <a:t>Diagnosticar las dificultades de comprensión de electrónica básica en los estudiantes de primaria del colegio La Primera, mediante la aplicación de una encuesta y la observación directa en aula.</a:t>
            </a:r>
            <a:endParaRPr lang="es-ES" sz="18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Resultado: encuesta a 67 estudiantes de 6°A y 6°B (15 mayo 2026). Promedio «No»: 72,4 % · «Sí»: 16,9 % · «Tal vez»: 10,7 %.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14940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</a:t>
            </a:r>
            <a:r>
              <a:rPr lang="es-ES" sz="3600" b="1" dirty="0" smtClean="0"/>
              <a:t>ESPECIFICO 2</a:t>
            </a:r>
            <a:endParaRPr lang="es-ES" sz="3600" b="1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0312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1700" dirty="0">
                <a:solidFill>
                  <a:srgbClr val="FFFFFF"/>
                </a:solidFill>
              </a:rPr>
              <a:t>Diseñar la arquitectura de contenidos y las actividades interactivas de la página web (identificación de componentes, simbología electrónica, polaridad y tipos de circuitos), sustentadas en el marco teórico y el currículo boliviano vigente.</a:t>
            </a: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21382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</a:t>
            </a:r>
            <a:r>
              <a:rPr lang="es-ES" sz="3600" b="1" dirty="0" smtClean="0"/>
              <a:t>ESPECIFICO 3</a:t>
            </a:r>
            <a:endParaRPr lang="es-ES" sz="3600" b="1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0312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1700" dirty="0">
                <a:solidFill>
                  <a:srgbClr val="FFFFFF"/>
                </a:solidFill>
              </a:rPr>
              <a:t>Desarrollar los módulos interactivos de la página web (memorama, simbología, polaridad y simulador de circuitos) utilizando tecnologías web estándar (HTML5, CSS3 y JavaScript).</a:t>
            </a:r>
            <a:endParaRPr lang="es-ES" sz="17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También se validó la comprensión lograda mediante aplicación piloto en el colegio La Primera.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1654082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METODOLOGIA</a:t>
            </a:r>
            <a:endParaRPr lang="es-ES" sz="36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Proceso de 5 fases</a:t>
            </a:r>
            <a:r>
              <a:rPr lang="es-ES" sz="2500" dirty="0" err="1" smtClean="0"/>
              <a:t xml:space="preserve"> (Modelo ADDIE)</a:t>
            </a:r>
            <a:r>
              <a:rPr lang="es-ES" sz="2500" dirty="0" smtClean="0"/>
              <a:t/>
            </a:r>
            <a:endParaRPr lang="es-ES" sz="2500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03120"/>
            <a:ext cx="10515600" cy="2743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1. Análisis — Diagnóstico de necesidades y audiencia (encuesta + observación)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2. Diseño — Definición de objetivos, arquitectura y actividades interactivas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3. Desarrollo — Creación de contenidos, juegos y laboratorio con HTML/CSS/JS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4. Implementación — Aplicación piloto en el aula de informática del colegio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5. Evaluación — Medición de resultados y retroalimentación de docentes y estudiantes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357674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COSTOS</a:t>
            </a:r>
            <a:endParaRPr lang="es-ES" sz="36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Resumen general de costos (Bs 860,00)</a:t>
            </a:r>
            <a:endParaRPr lang="es-ES" sz="2500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03120"/>
            <a:ext cx="10515600" cy="2743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Costo de inversión (desembolso real): Bs 110,00  —  Sin kit; laptop = recurso propio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Costo de operación: Bs 480,00  —  Internet, impresiones, transporte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Costos variables: Bs 120,00  —  Consumo eléctrico y material didáctico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500" dirty="0">
                <a:solidFill>
                  <a:srgbClr val="FFFFFF"/>
                </a:solidFill>
              </a:rPr>
              <a:t>Costos fijos: Bs 150,00  —  Tarifa de internet (3 meses)</a:t>
            </a:r>
            <a:endParaRPr lang="es-ES" sz="1500"/>
          </a:p>
          <a:p>
            <a:pPr algn="l">
              <a:spcBef>
                <a:spcPts val="80"/>
              </a:spcBef>
            </a:pPr>
            <a:r>
              <a:rPr lang="es-ES" sz="1800" b="1" dirty="0">
                <a:solidFill>
                  <a:srgbClr val="FFFFFF"/>
                </a:solidFill>
              </a:rPr>
              <a:t>TOTAL DESEMBOLSO REAL: Bs 860,00</a:t>
            </a: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32242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DESARROLLO DE LA INNOVACION</a:t>
            </a:r>
            <a:endParaRPr lang="es-ES" sz="36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Diagrama de Gantt y evidencia</a:t>
            </a:r>
            <a:r>
              <a:rPr lang="es-ES" sz="2500" dirty="0" err="1" smtClean="0"/>
              <a:t/>
            </a:r>
            <a:r>
              <a:rPr lang="es-ES" sz="2500" dirty="0" smtClean="0"/>
              <a:t xml:space="preserve"> del desarrollo</a:t>
            </a:r>
          </a:p>
          <a:p>
            <a:r>
              <a:rPr lang="es-ES" sz="2500" dirty="0" smtClean="0"/>
              <a:t>Cumplimiento de objetivos específicos</a:t>
            </a:r>
            <a:endParaRPr lang="es-ES" sz="2500" dirty="0"/>
          </a:p>
        </p:txBody>
      </p:sp>
    </p:spTree>
    <p:extLst>
      <p:ext uri="{BB962C8B-B14F-4D97-AF65-F5344CB8AC3E}">
        <p14:creationId xmlns:p14="http://schemas.microsoft.com/office/powerpoint/2010/main" val="219318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900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356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46488" y="504788"/>
            <a:ext cx="911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ESTRATEGIAS DE MEJORA Y  PROYECCIÓN</a:t>
            </a:r>
            <a:endParaRPr lang="es-ES" sz="3600" b="1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01168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• Optimización de código: HTML semántico, CSS modular, JS ES6, minificación y lazy loading.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• Accesibilidad: versiones de texto para 6-8 y 9-11 años, alto contraste, ARIA.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• Nuevos módulos: sensores, semiconductores y compuertas lógicas con juegos.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• Proyección: PWA offline, dominio propio, open source en GitHub y manual de replicación para otros BTH.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2915341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RESULTADOS</a:t>
            </a:r>
            <a:endParaRPr lang="es-ES" sz="36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Objetivos general y específicos cumplidos en su totalidad</a:t>
            </a:r>
            <a:endParaRPr lang="es-ES" sz="2500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01168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OE1 Diagnóstico: encuesta confirmó vacíos en protoboard (1,5% Sí), resistencia (4,5%) y circuitos.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OE2 Diseño: arquitectura de 4 secciones (Teoría, Componentes, Juegos, Laboratorio) alineada al currículo 2025.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OE3 Desarrollo: plataforma funcional con 8 juegos + simulador de circuitos y calculadora de código de colores.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OE4 Validación: piloto en 6°A y 6°B; lista de cotejo y rúbrica confirmaron usabilidad y motivación.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2876714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CONCLUSIÓN Y  RECOMENDACIONES</a:t>
            </a:r>
            <a:endParaRPr lang="es-ES" sz="36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 xml:space="preserve">Relación objetivos – resultados </a:t>
            </a:r>
          </a:p>
          <a:p>
            <a:r>
              <a:rPr lang="es-ES" sz="2500" dirty="0" smtClean="0"/>
              <a:t>Mejora y sostenibilidad a largo plazo</a:t>
            </a:r>
            <a:endParaRPr lang="es-ES" sz="2500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01168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1. El diagnóstico orientó de forma concreta el contenido de la plataforma.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2. Se tradujeron las necesidades en módulos claros: teoría, componentes, juegos y laboratorio.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3. La página funciona con tecnologías web accesibles, sin instalaciones ni registro.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4. La validación mostró que motiva y ayuda a reconocer componentes, polaridad y circuitos.</a:t>
            </a:r>
            <a:endParaRPr lang="es-ES" sz="1500"/>
          </a:p>
          <a:p>
            <a:pPr algn="l" marL="0">
              <a:spcBef>
                <a:spcPts val="60"/>
              </a:spcBef>
            </a:pPr>
            <a:r>
              <a:rPr lang="es-ES" sz="1500" dirty="0">
                <a:solidFill>
                  <a:srgbClr val="FFFFFF"/>
                </a:solidFill>
              </a:rPr>
              <a:t>5. Pequeños Genios aporta una alternativa cercana frente a una enseñanza únicamente teórica.</a:t>
            </a:r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1984743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203619" y="3442700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smtClean="0"/>
              <a:t>DESPEDIDA</a:t>
            </a:r>
            <a:endParaRPr lang="es-ES" sz="3600" b="1" dirty="0"/>
          </a:p>
        </p:txBody>
      </p:sp>
      <p:sp>
        <p:nvSpPr>
          <p:cNvPr id="5" name="BodyContent"/>
          <p:cNvSpPr txBox="1"/>
          <p:nvPr/>
        </p:nvSpPr>
        <p:spPr>
          <a:xfrm>
            <a:off x="548640" y="2194560"/>
            <a:ext cx="10515600" cy="29260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 marL="0">
              <a:spcBef>
                <a:spcPts val="60"/>
              </a:spcBef>
            </a:pPr>
            <a:r>
              <a:rPr lang="es-ES" sz="2400" b="1" dirty="0">
                <a:solidFill>
                  <a:srgbClr val="FFFFFF"/>
                </a:solidFill>
              </a:rPr>
              <a:t>¡Gracias por aprender con nosotros!</a:t>
            </a:r>
            <a:endParaRPr lang="es-ES" sz="2400"/>
          </a:p>
          <a:p>
            <a:pPr algn="l" marL="0">
              <a:spcBef>
                <a:spcPts val="60"/>
              </a:spcBef>
            </a:pPr>
            <a:r>
              <a:rPr lang="es-ES" sz="1800" dirty="0">
                <a:solidFill>
                  <a:srgbClr val="FFFFFF"/>
                </a:solidFill>
              </a:rPr>
              <a:t>Pequeños Genios · electrónica básica jugando</a:t>
            </a:r>
            <a:endParaRPr lang="es-ES" sz="1800"/>
          </a:p>
          <a:p>
            <a:pPr algn="l" marL="0">
              <a:spcBef>
                <a:spcPts val="60"/>
              </a:spcBef>
            </a:pPr>
            <a:r>
              <a:rPr lang="es-ES" sz="1400" dirty="0">
                <a:solidFill>
                  <a:srgbClr val="FFFFFF"/>
                </a:solidFill>
              </a:rPr>
              <a:t>U.E. La Primera · Fe y Alegría · El Alto, Bolivia</a:t>
            </a:r>
            <a:endParaRPr lang="es-ES" sz="1400"/>
          </a:p>
          <a:p>
            <a:pPr algn="l" marL="0">
              <a:spcBef>
                <a:spcPts val="60"/>
              </a:spcBef>
            </a:pPr>
            <a:r>
              <a:rPr lang="es-ES" sz="1400" dirty="0">
                <a:solidFill>
                  <a:srgbClr val="FFFFFF"/>
                </a:solidFill>
              </a:rPr>
              <a:t>https://arez017.github.io/Pequenios-Genios/</a:t>
            </a:r>
            <a:endParaRPr lang="es-ES" sz="1400"/>
          </a:p>
        </p:txBody>
      </p:sp>
    </p:spTree>
    <p:extLst>
      <p:ext uri="{BB962C8B-B14F-4D97-AF65-F5344CB8AC3E}">
        <p14:creationId xmlns:p14="http://schemas.microsoft.com/office/powerpoint/2010/main" val="465272217"/>
      </p:ext>
    </p:extLst>
  </p:cSld>
  <p:clrMapOvr>
    <a:masterClrMapping/>
  </p:clrMapOvr>
</p:sld>
</file>

<file path=ppt/theme/_rels/theme1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Personalizado 1">
      <a:dk1>
        <a:sysClr val="windowText" lastClr="000000"/>
      </a:dk1>
      <a:lt1>
        <a:sysClr val="window" lastClr="FFFFFF"/>
      </a:lt1>
      <a:dk2>
        <a:srgbClr val="00B050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684</TotalTime>
  <Words>137</Words>
  <Application>Microsoft Office PowerPoint</Application>
  <PresentationFormat>Panorámica</PresentationFormat>
  <Paragraphs>33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Berlin Sans FB</vt:lpstr>
      <vt:lpstr>Bradley Hand ITC</vt:lpstr>
      <vt:lpstr>MS Shell Dlg 2</vt:lpstr>
      <vt:lpstr>Wingdings</vt:lpstr>
      <vt:lpstr>Wingdings 3</vt:lpstr>
      <vt:lpstr>Madison</vt:lpstr>
      <vt:lpstr>TITULO DE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DE PROYECTO</dc:title>
  <dc:creator>Administrator</dc:creator>
  <cp:lastModifiedBy>Usuario de Windows</cp:lastModifiedBy>
  <cp:revision>21</cp:revision>
  <dcterms:created xsi:type="dcterms:W3CDTF">2021-10-27T15:28:11Z</dcterms:created>
  <dcterms:modified xsi:type="dcterms:W3CDTF">2026-06-25T21:18:47Z</dcterms:modified>
</cp:coreProperties>
</file>